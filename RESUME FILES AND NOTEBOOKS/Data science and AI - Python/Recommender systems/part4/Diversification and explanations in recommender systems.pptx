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ECF8106-B58E-865C-CA4A-6188FB81B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D8E1079E-0DE0-4817-CE45-22E4F21D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5D83716-BA5E-EDF6-B72E-1C1B441E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2CAE545-C139-847C-B4AB-A0FACE07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3859803-B5D4-E6F1-22FB-0D66A331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03643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69EDB40-80C1-B1C2-7BB2-FFF158CB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B869C4D-E958-FAFA-E51C-AD8145AF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696F5E6-AD6A-FB09-674A-E7AEE11F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4DAFD53-6707-320D-02F3-434BAB83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BB112D6-C740-715C-9FA2-63F2F26E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4165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90FFD3E-E314-B60D-F40B-0B01A4D3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CB95CB35-333D-576C-4B33-4E70D2929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5418015-7A8A-2AA7-B488-28A9BA57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FB9141C-93C0-98B9-CF3F-5E95D84F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794AB6E-068B-D119-6BC2-25CEE5401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0585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AEDF032-FCED-C8E8-BA3E-90727942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D5A650A-D8BB-267D-A508-8194D89A0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21579785-8FFC-01F6-68FC-16350F698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A3F794B5-B725-F1D2-9E06-F46E2AE5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57470531-6FC9-834C-6E16-BAEA5FEB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7DB3360D-09D8-73F9-4E5B-9D99C207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5354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194B58E-5CD4-1B76-382B-123920CE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8022624E-DD41-9330-865A-7B395AA04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B6C4D0A-A626-25E4-6AA8-9D4E2C8CC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0C1DD1CD-8D94-A936-402C-796EE4C72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426E69BC-7A9A-C8C0-B8A1-3D419F89E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A6F17999-9E13-B2DF-F108-1DFF93B8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5686D84A-2053-5472-D7B4-1BBD260A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2D2AE290-7CB8-8A69-23D4-EF9AFD59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630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C6CA944-C524-E586-9BD3-BF4572AE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878ADF02-0F21-FDD1-1939-E1083F70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AB9387B1-413D-2C56-2815-590E88B1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AF6377F5-43D4-7320-FCDB-70B389E8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3647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7E7D7BD4-ED2B-E499-2815-D124A8E6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D1D0A495-B7A8-B68C-573A-6FA122D9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796E7A98-ACDB-9166-D9A0-A78E769C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8615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7380B11-9AA9-7ECC-841D-268B1C37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E3DDA31-3585-3388-C545-8041E6233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0F96525E-8C01-4FAA-09EF-ABDAD3D0F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B16F426-1B8F-1B7C-F4BF-A6FFB0C4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D9FD423F-8D20-79A4-ADB2-2E9174EE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99DA0B67-B748-77F8-2A64-208A63B6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3967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834FE3-C5E5-7A40-022F-BEB577DE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84409819-6FC0-83AD-1EFE-6918E6C01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7B06A25C-0A32-F7DE-E1B9-CE138EECC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6D9B89D-414F-A76B-9EE5-75D0EDD5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1612FAB-DC69-BD59-66DF-6F229B162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7E6DAE6-1F75-F16D-637A-71DA8300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946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BD9C2C7-F530-752E-E32D-3C27FCEA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099E6452-AF4E-BFEC-7166-802D98482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94F729A-EBC8-DEB6-9DEB-823D6F82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FC2985C-0B17-74EF-4AF8-9D1CA48C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CCECDA8-7AB4-F809-44FE-0722C13B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7111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0CABF6C7-5A8D-C0C1-10F9-856F18C07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2E1C7BE6-4E05-9199-1CEB-69C3E7A4F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F515EA3-D48B-0D6A-6ACB-DE9BAA07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625CC6A-A413-8387-F5D1-F57871E0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58C5FCF-CC99-02C9-08E7-65C03D86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3297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6E3A83C8-9B18-DEC7-D7DF-99A81E28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F081D75C-E635-A5BE-359C-ACC27D2A5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069D547-2E74-BD37-184A-6092BA471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31BE5-EBBC-40DB-A815-0F4F2F2151C6}" type="datetimeFigureOut">
              <a:rPr lang="fi-FI" smtClean="0"/>
              <a:t>26.11.2025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DC50669-3053-AED3-5856-48145AC5A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E65F8E3-702C-4493-8CBB-984BFD79D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27FE3-86F3-43A8-87BC-604A1912E49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8987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5AA1A17-2F26-8257-A16B-FC2F6F6A5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Diversification and explanations in recommender systems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4AEF93CD-52DB-B2DB-2FB4-1AE40DB03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Mikko Eerola</a:t>
            </a:r>
          </a:p>
        </p:txBody>
      </p:sp>
    </p:spTree>
    <p:extLst>
      <p:ext uri="{BB962C8B-B14F-4D97-AF65-F5344CB8AC3E}">
        <p14:creationId xmlns:p14="http://schemas.microsoft.com/office/powerpoint/2010/main" val="340092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B64563D-A5DE-261C-8F5F-6F9720D9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Diversification method: Motley with F-score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CC1E7B6-B6F3-573B-3F0B-8AB4D5E7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noProof="0" dirty="0"/>
              <a:t>Motley aggregation: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New method: Motley with F-score</a:t>
            </a:r>
          </a:p>
          <a:p>
            <a:pPr lvl="1"/>
            <a:r>
              <a:rPr lang="en-GB" noProof="0" dirty="0"/>
              <a:t>Add element from S to R, if it improves F(</a:t>
            </a:r>
            <a:r>
              <a:rPr lang="en-GB" noProof="0" dirty="0" err="1"/>
              <a:t>q,R</a:t>
            </a:r>
            <a:r>
              <a:rPr lang="en-GB" noProof="0" dirty="0"/>
              <a:t>) more than threshold theta. </a:t>
            </a:r>
          </a:p>
          <a:p>
            <a:r>
              <a:rPr lang="en-GB" noProof="0" dirty="0"/>
              <a:t>Using embedded genre vectors and cosine similarity with sim and div</a:t>
            </a:r>
          </a:p>
          <a:p>
            <a:pPr marL="457200" lvl="1" indent="0">
              <a:buNone/>
            </a:pPr>
            <a:endParaRPr lang="en-GB" noProof="0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4286332D-9BD9-2FA4-A971-8844518F6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07" y="2576808"/>
            <a:ext cx="8720586" cy="170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60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282E733-9277-BAB9-99C5-B5786A7E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Pros and cons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4364F71-4998-0AE8-D3A1-04193569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Direct control over F-score:</a:t>
            </a:r>
          </a:p>
          <a:p>
            <a:pPr lvl="1"/>
            <a:r>
              <a:rPr lang="en-GB" noProof="0" dirty="0"/>
              <a:t>Given a target F-score the variable theta can be selected to achieve the target, if possible, from the candidate set</a:t>
            </a:r>
          </a:p>
          <a:p>
            <a:r>
              <a:rPr lang="en-GB" noProof="0" dirty="0"/>
              <a:t>When the candidate set is sorted gives ’same’ results than Motley</a:t>
            </a:r>
          </a:p>
          <a:p>
            <a:pPr lvl="1"/>
            <a:r>
              <a:rPr lang="en-GB" noProof="0" dirty="0"/>
              <a:t>Candidate set can be left random, F-score includes similarity -&gt; Faster</a:t>
            </a:r>
          </a:p>
        </p:txBody>
      </p:sp>
    </p:spTree>
    <p:extLst>
      <p:ext uri="{BB962C8B-B14F-4D97-AF65-F5344CB8AC3E}">
        <p14:creationId xmlns:p14="http://schemas.microsoft.com/office/powerpoint/2010/main" val="193861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AC13717-6C8C-54FC-5A98-95E29910F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Counterfactual explanations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E9BAEF0-D4F7-20F0-D128-38B3C9A92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Greedy grow with diversity clustering rebuild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9695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3B53490-9770-8CDF-E2B9-F8672CE72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Explanations with Greedy Grow</a:t>
            </a:r>
          </a:p>
        </p:txBody>
      </p:sp>
      <p:pic>
        <p:nvPicPr>
          <p:cNvPr id="9" name="Sisällön paikkamerkki 8">
            <a:extLst>
              <a:ext uri="{FF2B5EF4-FFF2-40B4-BE49-F238E27FC236}">
                <a16:creationId xmlns:a16="http://schemas.microsoft.com/office/drawing/2014/main" id="{22E350CC-99A4-1A3F-00BA-C6C03C29F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777" y="1508125"/>
            <a:ext cx="6977145" cy="4351338"/>
          </a:xfrm>
          <a:prstGeom prst="rect">
            <a:avLst/>
          </a:prstGeom>
        </p:spPr>
      </p:pic>
      <p:sp>
        <p:nvSpPr>
          <p:cNvPr id="11" name="Tekstiruutu 10">
            <a:extLst>
              <a:ext uri="{FF2B5EF4-FFF2-40B4-BE49-F238E27FC236}">
                <a16:creationId xmlns:a16="http://schemas.microsoft.com/office/drawing/2014/main" id="{D59CD4BC-ABBF-653B-4670-29B1D1ADD08A}"/>
              </a:ext>
            </a:extLst>
          </p:cNvPr>
          <p:cNvSpPr txBox="1"/>
          <p:nvPr/>
        </p:nvSpPr>
        <p:spPr>
          <a:xfrm>
            <a:off x="2486777" y="5918200"/>
            <a:ext cx="813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Source</a:t>
            </a:r>
            <a:r>
              <a:rPr lang="fi-FI" dirty="0"/>
              <a:t>: DATA.ML.360-2025-2026 </a:t>
            </a:r>
            <a:r>
              <a:rPr lang="fi-FI" dirty="0" err="1"/>
              <a:t>lecture</a:t>
            </a:r>
            <a:r>
              <a:rPr lang="fi-FI" dirty="0"/>
              <a:t> </a:t>
            </a:r>
            <a:r>
              <a:rPr lang="fi-FI" dirty="0" err="1"/>
              <a:t>slides</a:t>
            </a:r>
            <a:r>
              <a:rPr lang="fi-FI" dirty="0"/>
              <a:t>, </a:t>
            </a:r>
            <a:r>
              <a:rPr lang="fi-FI" dirty="0" err="1"/>
              <a:t>Stefanidis</a:t>
            </a:r>
            <a:r>
              <a:rPr lang="fi-FI" dirty="0"/>
              <a:t> and </a:t>
            </a:r>
            <a:r>
              <a:rPr lang="fi-FI" dirty="0" err="1"/>
              <a:t>Stratigi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81069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3D77730-3A07-74A9-BC9E-39066560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New method: Diversity clustering rebuild</a:t>
            </a:r>
          </a:p>
        </p:txBody>
      </p:sp>
      <p:sp>
        <p:nvSpPr>
          <p:cNvPr id="11" name="Sisällön paikkamerkki 10">
            <a:extLst>
              <a:ext uri="{FF2B5EF4-FFF2-40B4-BE49-F238E27FC236}">
                <a16:creationId xmlns:a16="http://schemas.microsoft.com/office/drawing/2014/main" id="{56D79B8C-2AF8-5E42-B930-1B40CB31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3450" cy="4351338"/>
          </a:xfrm>
        </p:spPr>
        <p:txBody>
          <a:bodyPr>
            <a:normAutofit fontScale="92500"/>
          </a:bodyPr>
          <a:lstStyle/>
          <a:p>
            <a:r>
              <a:rPr lang="en-GB" noProof="0" dirty="0"/>
              <a:t>Greedy Grow out puts an explanation list </a:t>
            </a:r>
            <a:r>
              <a:rPr lang="en-GB" i="1" noProof="0" dirty="0" err="1">
                <a:latin typeface="Amasis MT Pro Light" panose="020F0502020204030204" pitchFamily="18" charset="0"/>
                <a:cs typeface="Aldhabi" panose="020F0502020204030204" pitchFamily="2" charset="-78"/>
              </a:rPr>
              <a:t>l_t</a:t>
            </a:r>
            <a:r>
              <a:rPr lang="en-GB" i="1" noProof="0" dirty="0">
                <a:latin typeface="Amasis MT Pro Light" panose="020F0502020204030204" pitchFamily="18" charset="0"/>
                <a:cs typeface="Aldhabi" panose="020F0502020204030204" pitchFamily="2" charset="-78"/>
              </a:rPr>
              <a:t>, </a:t>
            </a:r>
            <a:r>
              <a:rPr lang="en-GB" noProof="0" dirty="0">
                <a:cs typeface="Aldhabi" panose="020F0502020204030204" pitchFamily="2" charset="-78"/>
              </a:rPr>
              <a:t>where </a:t>
            </a:r>
            <a:r>
              <a:rPr lang="en-GB" i="1" noProof="0" dirty="0">
                <a:latin typeface="Amasis MT Pro Light" panose="02040304050005020304" pitchFamily="18" charset="0"/>
                <a:cs typeface="Aldhabi" panose="020F0502020204030204" pitchFamily="2" charset="-78"/>
              </a:rPr>
              <a:t>t</a:t>
            </a:r>
            <a:r>
              <a:rPr lang="en-GB" noProof="0" dirty="0">
                <a:cs typeface="Aldhabi" panose="020F0502020204030204" pitchFamily="2" charset="-78"/>
              </a:rPr>
              <a:t> represents the target movie.</a:t>
            </a:r>
          </a:p>
          <a:p>
            <a:r>
              <a:rPr lang="en-GB" noProof="0" dirty="0">
                <a:cs typeface="Aldhabi" panose="020F0502020204030204" pitchFamily="2" charset="-78"/>
              </a:rPr>
              <a:t>Using the list </a:t>
            </a:r>
            <a:r>
              <a:rPr lang="en-GB" i="1" noProof="0" dirty="0" err="1">
                <a:latin typeface="Amasis MT Pro Light" panose="02040304050005020304" pitchFamily="18" charset="0"/>
                <a:cs typeface="Aldhabi" panose="020F0502020204030204" pitchFamily="2" charset="-78"/>
              </a:rPr>
              <a:t>l_t</a:t>
            </a:r>
            <a:r>
              <a:rPr lang="en-GB" noProof="0" dirty="0">
                <a:cs typeface="Aldhabi" panose="020F0502020204030204" pitchFamily="2" charset="-78"/>
              </a:rPr>
              <a:t> and the groups sub user-movie-matrix, divide </a:t>
            </a:r>
            <a:r>
              <a:rPr lang="en-GB" i="1" noProof="0" dirty="0" err="1">
                <a:latin typeface="Amasis MT Pro Light" panose="02040304050005020304" pitchFamily="18" charset="0"/>
                <a:cs typeface="Aldhabi" panose="020F0502020204030204" pitchFamily="2" charset="-78"/>
              </a:rPr>
              <a:t>l_t</a:t>
            </a:r>
            <a:r>
              <a:rPr lang="en-GB" noProof="0" dirty="0">
                <a:cs typeface="Aldhabi" panose="020F0502020204030204" pitchFamily="2" charset="-78"/>
              </a:rPr>
              <a:t> into clusters. Clustering is done by k-means algorithm and rating behaviour vectors = the groups ratings to given movie.</a:t>
            </a:r>
          </a:p>
          <a:p>
            <a:r>
              <a:rPr lang="en-GB" dirty="0">
                <a:cs typeface="Aldhabi" panose="020F0502020204030204" pitchFamily="2" charset="-78"/>
              </a:rPr>
              <a:t>Number of clusters is given by </a:t>
            </a:r>
            <a:r>
              <a:rPr lang="en-US" i="1" dirty="0">
                <a:latin typeface="Amasis MT Pro Light" panose="02040304050005020304" pitchFamily="18" charset="0"/>
              </a:rPr>
              <a:t>k = </a:t>
            </a:r>
            <a:r>
              <a:rPr lang="en-US" i="1" dirty="0">
                <a:latin typeface="Amasis MT Pro Light" panose="02040304050005020304" pitchFamily="18" charset="0"/>
                <a:ea typeface="STXihei" panose="02010600040101010101" pitchFamily="2" charset="-122"/>
              </a:rPr>
              <a:t>floor</a:t>
            </a:r>
            <a:r>
              <a:rPr lang="en-US" i="1" dirty="0">
                <a:latin typeface="Amasis MT Pro Light" panose="02040304050005020304" pitchFamily="18" charset="0"/>
              </a:rPr>
              <a:t>(log(</a:t>
            </a:r>
            <a:r>
              <a:rPr lang="en-US" i="1" dirty="0" err="1">
                <a:latin typeface="Amasis MT Pro Light" panose="02040304050005020304" pitchFamily="18" charset="0"/>
              </a:rPr>
              <a:t>len</a:t>
            </a:r>
            <a:r>
              <a:rPr lang="en-US" i="1" dirty="0">
                <a:latin typeface="Amasis MT Pro Light" panose="02040304050005020304" pitchFamily="18" charset="0"/>
              </a:rPr>
              <a:t>(</a:t>
            </a:r>
            <a:r>
              <a:rPr lang="en-US" i="1" dirty="0" err="1">
                <a:latin typeface="Amasis MT Pro Light" panose="02040304050005020304" pitchFamily="18" charset="0"/>
              </a:rPr>
              <a:t>expls</a:t>
            </a:r>
            <a:r>
              <a:rPr lang="en-US" i="1" dirty="0">
                <a:latin typeface="Amasis MT Pro Light" panose="02040304050005020304" pitchFamily="18" charset="0"/>
              </a:rPr>
              <a:t>)) </a:t>
            </a:r>
            <a:r>
              <a:rPr lang="en-US" dirty="0"/>
              <a:t>(not optimal?)</a:t>
            </a:r>
            <a:endParaRPr lang="en-GB" noProof="0" dirty="0">
              <a:cs typeface="Aldhabi" panose="020F0502020204030204" pitchFamily="2" charset="-78"/>
            </a:endParaRPr>
          </a:p>
          <a:p>
            <a:r>
              <a:rPr lang="en-GB" noProof="0" dirty="0">
                <a:cs typeface="Aldhabi" panose="020F0502020204030204" pitchFamily="2" charset="-78"/>
              </a:rPr>
              <a:t>Select a representative from each cluster using same metrics than in Greedy Grow sorting.</a:t>
            </a:r>
          </a:p>
          <a:p>
            <a:endParaRPr lang="en-GB" noProof="0" dirty="0">
              <a:cs typeface="Aldhabi" panose="020F050202020403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880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B73A232-8FF9-FA69-EE61-0AACEBB3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Pros</a:t>
            </a:r>
            <a:r>
              <a:rPr lang="fi-FI" dirty="0"/>
              <a:t>, </a:t>
            </a:r>
            <a:r>
              <a:rPr lang="fi-FI" dirty="0" err="1"/>
              <a:t>cons</a:t>
            </a:r>
            <a:r>
              <a:rPr lang="fi-FI" dirty="0"/>
              <a:t> and open </a:t>
            </a:r>
            <a:r>
              <a:rPr lang="fi-FI" dirty="0" err="1"/>
              <a:t>questions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7CB195C-4D25-618D-6B2E-9AB56B14A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Low</a:t>
            </a:r>
            <a:r>
              <a:rPr lang="fi-FI" dirty="0"/>
              <a:t> </a:t>
            </a:r>
            <a:r>
              <a:rPr lang="fi-FI" dirty="0" err="1"/>
              <a:t>cost</a:t>
            </a:r>
            <a:endParaRPr lang="fi-FI" dirty="0"/>
          </a:p>
          <a:p>
            <a:r>
              <a:rPr lang="fi-FI" dirty="0"/>
              <a:t>Short </a:t>
            </a:r>
            <a:r>
              <a:rPr lang="fi-FI" dirty="0" err="1"/>
              <a:t>explanations</a:t>
            </a:r>
            <a:endParaRPr lang="fi-FI" dirty="0"/>
          </a:p>
          <a:p>
            <a:r>
              <a:rPr lang="fi-FI" dirty="0"/>
              <a:t>How to </a:t>
            </a:r>
            <a:r>
              <a:rPr lang="fi-FI" dirty="0" err="1"/>
              <a:t>select</a:t>
            </a:r>
            <a:r>
              <a:rPr lang="fi-FI" dirty="0"/>
              <a:t> </a:t>
            </a:r>
            <a:r>
              <a:rPr lang="fi-FI" i="1" dirty="0">
                <a:latin typeface="Amasis MT Pro Light" panose="02040304050005020304" pitchFamily="18" charset="0"/>
              </a:rPr>
              <a:t>k</a:t>
            </a:r>
            <a:r>
              <a:rPr lang="fi-FI" dirty="0"/>
              <a:t> for k-</a:t>
            </a:r>
            <a:r>
              <a:rPr lang="fi-FI" dirty="0" err="1"/>
              <a:t>means</a:t>
            </a:r>
            <a:r>
              <a:rPr lang="fi-FI" dirty="0"/>
              <a:t> </a:t>
            </a:r>
            <a:r>
              <a:rPr lang="fi-FI" dirty="0" err="1"/>
              <a:t>algorithm</a:t>
            </a:r>
            <a:r>
              <a:rPr lang="fi-FI" dirty="0"/>
              <a:t>?</a:t>
            </a:r>
          </a:p>
          <a:p>
            <a:r>
              <a:rPr lang="fi-FI" dirty="0"/>
              <a:t>How to </a:t>
            </a:r>
            <a:r>
              <a:rPr lang="fi-FI" dirty="0" err="1"/>
              <a:t>select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representative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cluster</a:t>
            </a:r>
            <a:r>
              <a:rPr lang="fi-FI" dirty="0"/>
              <a:t>? </a:t>
            </a:r>
            <a:r>
              <a:rPr lang="fi-FI" dirty="0" err="1"/>
              <a:t>Influence</a:t>
            </a:r>
            <a:r>
              <a:rPr lang="fi-FI" dirty="0"/>
              <a:t> </a:t>
            </a:r>
            <a:r>
              <a:rPr lang="fi-FI" dirty="0" err="1"/>
              <a:t>metrics</a:t>
            </a:r>
            <a:r>
              <a:rPr lang="fi-FI" dirty="0"/>
              <a:t>? -&gt;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costly</a:t>
            </a:r>
            <a:endParaRPr lang="fi-FI" dirty="0"/>
          </a:p>
          <a:p>
            <a:r>
              <a:rPr lang="fi-FI" dirty="0"/>
              <a:t>Clustering on some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metrics</a:t>
            </a:r>
            <a:r>
              <a:rPr lang="fi-FI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8562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269</Words>
  <Application>Microsoft Office PowerPoint</Application>
  <PresentationFormat>Laajakuva</PresentationFormat>
  <Paragraphs>32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3" baseType="lpstr">
      <vt:lpstr>Aldhabi</vt:lpstr>
      <vt:lpstr>Amasis MT Pro Light</vt:lpstr>
      <vt:lpstr>Aptos</vt:lpstr>
      <vt:lpstr>Aptos Display</vt:lpstr>
      <vt:lpstr>Arial</vt:lpstr>
      <vt:lpstr>Office-teema</vt:lpstr>
      <vt:lpstr>Diversification and explanations in recommender systems</vt:lpstr>
      <vt:lpstr>Diversification method: Motley with F-score</vt:lpstr>
      <vt:lpstr>Pros and cons</vt:lpstr>
      <vt:lpstr>Counterfactual explanations</vt:lpstr>
      <vt:lpstr>Explanations with Greedy Grow</vt:lpstr>
      <vt:lpstr>New method: Diversity clustering rebuild</vt:lpstr>
      <vt:lpstr>Pros, cons and open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Mikko Eerola</dc:creator>
  <cp:lastModifiedBy>Mikko Eerola</cp:lastModifiedBy>
  <cp:revision>8</cp:revision>
  <dcterms:created xsi:type="dcterms:W3CDTF">2025-11-25T12:15:10Z</dcterms:created>
  <dcterms:modified xsi:type="dcterms:W3CDTF">2025-11-27T12:10:24Z</dcterms:modified>
</cp:coreProperties>
</file>